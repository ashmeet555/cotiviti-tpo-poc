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7B83"/>
                </a:solidFill>
              </a:rPr>
              <a:t>TPO 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Clinical Decision Making &amp; Payment Integrity
for Treatment, Payment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Cotiviti Intern Assessment – Topic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rgbClr val="F0F4F8"/>
                </a:solidFill>
              </a:rPr>
              <a:t>Ashmeet Singh Sandhu</a:t>
            </a:r>
            <a:r>
              <a:rPr sz="1400" b="0" dirty="0">
                <a:solidFill>
                  <a:srgbClr val="F0F4F8"/>
                </a:solidFill>
              </a:rPr>
              <a:t>  |  </a:t>
            </a:r>
            <a:r>
              <a:rPr lang="en-IN" sz="1400" dirty="0">
                <a:solidFill>
                  <a:srgbClr val="F0F4F8"/>
                </a:solidFill>
              </a:rPr>
              <a:t>Indian Institute of Information Technology Una </a:t>
            </a:r>
            <a:endParaRPr sz="1400" b="0" dirty="0">
              <a:solidFill>
                <a:srgbClr val="F0F4F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The Problem – Healthcare Fraud, Waste &amp; Abuse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</a:rPr>
              <a:t>• $100B+ in annual Medicare fraud, waste &amp; abuse (CMS, 2024)</a:t>
            </a:r>
          </a:p>
          <a:p>
            <a:pPr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</a:rPr>
              <a:t>• 1B+ claims processed per year – manual review is impossible</a:t>
            </a:r>
          </a:p>
          <a:p>
            <a:pPr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</a:rPr>
              <a:t>• Traditional rule-based edits miss novel, adaptive fraud patterns</a:t>
            </a:r>
          </a:p>
          <a:p>
            <a:pPr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</a:rPr>
              <a:t>• HIPAA TPO framework governs data use across Treatment, Payment &amp; Operations</a:t>
            </a:r>
          </a:p>
          <a:p>
            <a:pPr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</a:rPr>
              <a:t>• AI can automate, explain, and scale payment-integrity decisions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5ABFB-36C4-61CA-ACAF-B6F551D85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72083"/>
            <a:ext cx="11249514" cy="26582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Cotiviti?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B83"/>
                </a:solidFill>
              </a:rPr>
              <a:t>Cotiviti's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Leader in healthcare payment accuracy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Processes claims for 150M+ covered lives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Proprietary multi-payer benchmark data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Established audit &amp; recovery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</a:rPr>
              <a:t>Strategic AI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AI + ML investment thesis already underway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Needs explainable, auditable AI (regulatory pressure)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Opportunity: shift from retrospective recovery to pre-payment accuracy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Provider peer benchmarking = defensible competitive moat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Six AI Techniques → Three TPO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3716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83"/>
                </a:solidFill>
              </a:rP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80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XGBoost fraud probability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93392"/>
            <a:ext cx="13716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933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83"/>
                </a:solidFill>
              </a:rPr>
              <a:t>Inference (SHAP)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9339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Feature attribution – explainable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06624"/>
            <a:ext cx="13716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70662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Treatment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066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83"/>
                </a:solidFill>
              </a:rP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70662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Reimbursement &amp; LOS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19856"/>
            <a:ext cx="1371600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41985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1985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83"/>
                </a:solidFill>
              </a:rP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41985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KMeans provider peer-group benchmarking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33088"/>
            <a:ext cx="1371600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13308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330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83"/>
                </a:solidFill>
              </a:rPr>
              <a:t>Time-Series Anomaly Det.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3308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STL + IsolationForest + z-score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1371600" cy="5486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46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83"/>
                </a:solidFill>
              </a:rPr>
              <a:t>Agentic Chain Reasoning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846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LLM orchestrates 5-step investigation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– TPO 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
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B647C3-2175-D5C7-0205-1596E13C2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75" y="0"/>
            <a:ext cx="6390780" cy="7076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Payment Integrity – Classification &amp; SHAP Inference</a:t>
            </a:r>
          </a:p>
        </p:txBody>
      </p:sp>
      <p:pic>
        <p:nvPicPr>
          <p:cNvPr id="4" name="Picture 3" descr="fraud_probability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03520" cy="4114800"/>
          </a:xfrm>
          <a:prstGeom prst="rect">
            <a:avLst/>
          </a:prstGeom>
        </p:spPr>
      </p:pic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8521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XGBoost classifier outputs P(fraud) per provider.
SHAP explains which features drove each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Clinical Risk – Prediction (Treatment Pillar)</a:t>
            </a:r>
          </a:p>
        </p:txBody>
      </p:sp>
      <p:pic>
        <p:nvPicPr>
          <p:cNvPr id="4" name="Picture 3" descr="reimbursemen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8229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Gradient Boosting regressor predicts expected reimbursement &amp; average LOS per provider.
Deviation from prediction = potential over-billing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Operations – Provider Peer-Group Clustering</a:t>
            </a:r>
          </a:p>
        </p:txBody>
      </p:sp>
      <p:pic>
        <p:nvPicPr>
          <p:cNvPr id="4" name="Picture 3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• KMeans segments providers into cohorts by billing behavior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• Silhouette score used to select optimal K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• Providers &gt; 2 std from centroid are flagged as outliers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• Fraud rate per cluster quantifies peer-group risk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• Enables relative benchmarking vs. absolute thresholds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Operations – Time-Series Anomaly Detection</a:t>
            </a:r>
          </a:p>
        </p:txBody>
      </p:sp>
      <p:pic>
        <p:nvPicPr>
          <p:cNvPr id="4" name="Picture 3" descr="timeseries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0972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Three complementary methods applied per provider monthly series:
STL seasonal decomposition residual z-score  |  Isolation Forest  |  Rolling z-score
Red ✗ markers = months flagged as anomalous by ≥1 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Investigator Agent – Agentic Chain-of-Thought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B83"/>
                </a:solidFill>
              </a:rPr>
              <a:t>Chain-of-Thought Steps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73736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Step 1 – Classify: get fraud probability (XGBoost)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51460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Step 2 – Anomaly: query last N months for billing spikes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291839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2918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Step 3 – Peer Compare: check cluster + outlier flag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069079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0690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Step 4 – Explain: retrieve SHAP top-5 features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484632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Step 5 – Synthesize: LLM (or fallback) writes narrative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</a:rPr>
              <a:t>Output: PAY / REVIEW / DENY / AUDIT  +  cited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</a:rPr>
              <a:t>LLM: GPT-4o / Claude Haiku (API key)
OR deterministic rule-based fallback (always runs)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</a:rPr>
              <a:t>Demo: Streamlit → Investigator Agent tab
• Select any provider
• Watch each step expand in real-time
• Read the full investigation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Opportunities &amp;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✅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Agentic FWA triage replaces fragmented point solutions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SHAP-powered explanations reduce provider dispute rates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Pre-payment anomaly detection shifts from recovery to prevention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Peer benchmarking creates defensible competitive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</a:rPr>
              <a:t>⚠️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LLM hallucination → clinical risk &amp; liability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HIPAA/BAA compliance required for PHI in LLM APIs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Model drift demands continuous monitoring &amp; retraining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0F4F8"/>
                </a:solidFill>
              </a:rPr>
              <a:t>• Disparate impact risk on minority-serving providers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Strategic 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11430000" cy="1554480"/>
          </a:xfrm>
          <a:prstGeom prst="rect">
            <a:avLst/>
          </a:prstGeom>
          <a:solidFill>
            <a:srgbClr val="0D1F2D"/>
          </a:solidFill>
          <a:ln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Investment 1 – Agentic Payment Integrity Platform
  XGBoost + LLM orchestration + SHAP narratives → unified, auditable pre-payment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91840"/>
            <a:ext cx="11430000" cy="1554480"/>
          </a:xfrm>
          <a:prstGeom prst="rect">
            <a:avLst/>
          </a:prstGeom>
          <a:solidFill>
            <a:srgbClr val="0D1F2D"/>
          </a:solidFill>
          <a:ln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Investment 2 – Provider Peer Intelligence SaaS
  Quarterly KMeans refresh + deviation scores → client-facing analytics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B83"/>
                </a:solidFill>
              </a:rPr>
              <a:t>Questions?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624</Words>
  <Application>Microsoft Office PowerPoint</Application>
  <PresentationFormat>Custom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Ashmeet Sandhu</cp:lastModifiedBy>
  <cp:revision>2</cp:revision>
  <dcterms:created xsi:type="dcterms:W3CDTF">2013-01-27T09:14:16Z</dcterms:created>
  <dcterms:modified xsi:type="dcterms:W3CDTF">2026-06-30T19:17:53Z</dcterms:modified>
  <cp:category/>
</cp:coreProperties>
</file>